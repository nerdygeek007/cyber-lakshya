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Garamon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Inter ExtraBold"/>
      <p:bold r:id="rId22"/>
      <p:boldItalic r:id="rId23"/>
    </p:embeddedFont>
    <p:embeddedFont>
      <p:font typeface="Oswald"/>
      <p:regular r:id="rId24"/>
      <p:bold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g6V9fMs8fuYb0gyuk945BMTPA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Oswald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Oswald-bold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Garamond-bold.fntdata"/><Relationship Id="rId16" Type="http://schemas.openxmlformats.org/officeDocument/2006/relationships/font" Target="fonts/Garamond-regular.fntdata"/><Relationship Id="rId19" Type="http://schemas.openxmlformats.org/officeDocument/2006/relationships/font" Target="fonts/Garamond-boldItalic.fntdata"/><Relationship Id="rId18" Type="http://schemas.openxmlformats.org/officeDocument/2006/relationships/font" Target="fonts/Garamon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>
            <a:off x="762003" y="1381150"/>
            <a:ext cx="2672639" cy="370058"/>
            <a:chOff x="762000" y="1381125"/>
            <a:chExt cx="2476500" cy="342900"/>
          </a:xfrm>
        </p:grpSpPr>
        <p:sp>
          <p:nvSpPr>
            <p:cNvPr id="94" name="Google Shape;94;p1"/>
            <p:cNvSpPr/>
            <p:nvPr/>
          </p:nvSpPr>
          <p:spPr>
            <a:xfrm>
              <a:off x="762000" y="1381125"/>
              <a:ext cx="2476500" cy="342900"/>
            </a:xfrm>
            <a:prstGeom prst="roundRect">
              <a:avLst>
                <a:gd fmla="val 50000" name="adj"/>
              </a:avLst>
            </a:prstGeom>
            <a:solidFill>
              <a:srgbClr val="F0F9FF"/>
            </a:solidFill>
            <a:ln cap="flat" cmpd="sng" w="154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62000" y="1381125"/>
              <a:ext cx="2476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87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Problem Statement CHA-39</a:t>
              </a:r>
              <a:endParaRPr b="1" sz="1187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761999" y="2098550"/>
            <a:ext cx="57762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22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Cybersecurity Portal for Effective Management of Servers and Firewalls</a:t>
            </a:r>
            <a:endParaRPr b="0" sz="3022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62000" y="4119575"/>
            <a:ext cx="4894800" cy="1384200"/>
          </a:xfrm>
          <a:prstGeom prst="roundRect">
            <a:avLst>
              <a:gd fmla="val 888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62000" y="4296300"/>
            <a:ext cx="34353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Theme: </a:t>
            </a:r>
            <a:r>
              <a:rPr lang="en-US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Blockchain &amp; Cybersecurity</a:t>
            </a:r>
            <a:endParaRPr sz="129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Category: </a:t>
            </a:r>
            <a:r>
              <a:rPr lang="en-US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Software</a:t>
            </a:r>
            <a:endParaRPr sz="129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Name: </a:t>
            </a:r>
            <a:r>
              <a:rPr b="1" lang="en-US" sz="1295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Cyber Lakshya</a:t>
            </a:r>
            <a:endParaRPr sz="129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ID: </a:t>
            </a:r>
            <a:r>
              <a:rPr lang="en-US" sz="129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DEPSTAR-SIH-880700</a:t>
            </a:r>
            <a:endParaRPr/>
          </a:p>
        </p:txBody>
      </p:sp>
      <p:grpSp>
        <p:nvGrpSpPr>
          <p:cNvPr id="99" name="Google Shape;99;p1"/>
          <p:cNvGrpSpPr/>
          <p:nvPr/>
        </p:nvGrpSpPr>
        <p:grpSpPr>
          <a:xfrm>
            <a:off x="0" y="6353175"/>
            <a:ext cx="12192000" cy="504900"/>
            <a:chOff x="0" y="6353175"/>
            <a:chExt cx="12192000" cy="5049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6353175"/>
              <a:ext cx="12192000" cy="504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6353175"/>
              <a:ext cx="121920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</a:t>
              </a:r>
              <a:endPara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10895625" y="6353175"/>
              <a:ext cx="6207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 b="1"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8775600" y="64237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44940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113" name="Google Shape;113;p2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Cyber</a:t>
              </a:r>
              <a:r>
                <a:rPr lang="en-US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Lakshya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15" name="Google Shape;115;p2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SECUREDGE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Proposed Solution: Centralized Server &amp; Firewall Management</a:t>
            </a:r>
            <a:endParaRPr b="0" sz="1600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117" name="Google Shape;117;p2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76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Centralized DCIM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 enterprise-grade </a:t>
              </a:r>
              <a:r>
                <a:rPr b="1" lang="en-US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Center Infrastructure Management (DCIM)</a:t>
              </a: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portal built using a high-throughput Go backend and robust PostgreSQL storage.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Real-time monitoring: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Health checks across thousands of distributed servers.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Automated firewall: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Rapid policy enforcement and rule distribution.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Unified console: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Centralized command center dashboard.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124" name="Google Shape;124;p2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457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18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Zero-Trust Mitigation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Directly addresses identity verification deficits and administrative latency by enforcing strict Zero Trust Architecture.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RBAC controls: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Enforced with secure high-entropy JWT keys.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State pipelines: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Prevents single-point credential compromises.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Default-Deny: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Secures and closes vulnerable open-ports.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131" name="Google Shape;131;p2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838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8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Smart Innovation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Moves security and operations from manual, reactive firefighting to proactive, autonomic intelligence.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Kernel eBPF: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Sandboxed monitoring to block malicious processes instantly.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Isolation Forests: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ML for explainable threat logging anomalies.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Digital Twins: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Thermal CFD simulation to prevent hardware failures.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144" name="Google Shape;144;p3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Cyber Lakshya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46" name="Google Shape;146;p3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TECHNICAL APPROACH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SecurEdge Architecture &amp; Methodology</a:t>
            </a:r>
            <a:endParaRPr b="0" sz="1600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7" name="Google Shape;147;p3"/>
          <p:cNvSpPr txBox="1"/>
          <p:nvPr>
            <p:ph idx="12" type="sldNum"/>
          </p:nvPr>
        </p:nvSpPr>
        <p:spPr>
          <a:xfrm>
            <a:off x="8775600" y="64237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grpSp>
        <p:nvGrpSpPr>
          <p:cNvPr id="148" name="Google Shape;148;p3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149" name="Google Shape;149;p3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" name="Google Shape;15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2038350"/>
              <a:ext cx="34290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3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762000" y="1693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Core Tech Stack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Production-ready technologies selected for enterprise performance, scalability, and security.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Go Backend: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High-throughput Go APIs for efficient, lightweight processing.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Databases: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PostgreSQL for persistent storage with Redis caching.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Containers: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Docker-based microservices for reliable orchestration.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157" name="Google Shape;157;p3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" name="Google Shape;15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500" y="2038350"/>
              <a:ext cx="34290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3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4572000" y="1693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18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Architecture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Multi-layered system architecture designed to isolate core environments and secure traffic routes.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Shell Model: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Strict boundaries between internal and external networks.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Go API Gateway: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Centralized endpoint routing and RBAC enforcement.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Flow Mapping: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Detailed visualization of server-to-firewall data streams.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4" name="Google Shape;164;p3"/>
          <p:cNvSpPr txBox="1"/>
          <p:nvPr>
            <p:ph idx="11" type="ftr"/>
          </p:nvPr>
        </p:nvSpPr>
        <p:spPr>
          <a:xfrm>
            <a:off x="44940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65" name="Google Shape;165;p3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166" name="Google Shape;166;p3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" name="Google Shape;168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91500" y="2038350"/>
              <a:ext cx="9525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3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8382000" y="1693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18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Process &amp; Build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methodical, phase-by-phase implementation plan ensuring a stable and verified prototype launch.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4-Week Sprint: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Fast-paced development targeting the core Monolith.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Working Prototype: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Continuous validation of anomaly alert pathways.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SIH 2026 Target:</a:t>
              </a:r>
              <a:r>
                <a:rPr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Fully prepared for live, secure evaluation.</a:t>
              </a:r>
              <a:endParaRPr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3" name="Google Shape;17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FEASIBILITY AND VIABILITY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Evaluating Practical Implementation &amp; Risk Mitigation</a:t>
            </a:r>
            <a:endParaRPr b="0" sz="1600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81" name="Google Shape;181;p4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182" name="Google Shape;182;p4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 Lakshya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84" name="Google Shape;184;p4"/>
          <p:cNvSpPr txBox="1"/>
          <p:nvPr>
            <p:ph idx="12" type="sldNum"/>
          </p:nvPr>
        </p:nvSpPr>
        <p:spPr>
          <a:xfrm>
            <a:off x="8775700" y="64238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85" name="Google Shape;185;p4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186" name="Google Shape;186;p4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76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assessment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Feasibility Analysis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comprehensive evaluation of technical, operational, and financial feasibility of the proposed solution.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Technical Viability: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Assessing stack compatibility and performance metrics.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Operational Fit: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Seamless integration with standard data center layouts.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Resource Demands: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Lean developer overhead with efficient microservices.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92" name="Google Shape;192;p4"/>
          <p:cNvSpPr txBox="1"/>
          <p:nvPr>
            <p:ph idx="11" type="ftr"/>
          </p:nvPr>
        </p:nvSpPr>
        <p:spPr>
          <a:xfrm>
            <a:off x="4494000" y="642381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</a:t>
            </a:r>
            <a:r>
              <a:rPr lang="en-US">
                <a:solidFill>
                  <a:srgbClr val="FFFFFF"/>
                </a:solidFill>
              </a:rPr>
              <a:t>n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93" name="Google Shape;193;p4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194" name="Google Shape;194;p4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 txBox="1"/>
            <p:nvPr/>
          </p:nvSpPr>
          <p:spPr>
            <a:xfrm>
              <a:off x="457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18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Challenges &amp; Risks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99" name="Google Shape;199;p4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Identification of potential bottlenecks, legacy security threats, and adoption barriers during rollout.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Integration Latency: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Sync delays during legacy firewall rules mapping.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Security Vectors: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Managing identity verification across mixed networks.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Adoption Hurdles: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Overcoming the initial learning curve for operators.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00" name="Google Shape;200;p4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201" name="Google Shape;201;p4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838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18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Overcoming Risks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Proactive strategies and architectural design choices to completely neutralize identified risks.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Phased Rollout: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Deploying in sandboxed environments first to test load.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RBAC Enforcement: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Hardening access using high-entropy JWT keys.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Automated Fallbacks:</a:t>
              </a:r>
              <a:r>
                <a:rPr b="0" lang="en-US" sz="10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Instant configuration recovery during failures.</a:t>
              </a:r>
              <a:endParaRPr b="0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07" name="Google Shape;2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IMPACT AND BENEFITS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Transformational Value &amp; Strategic Advantages</a:t>
            </a:r>
            <a:endParaRPr b="0" sz="1600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15" name="Google Shape;215;p5"/>
          <p:cNvGrpSpPr/>
          <p:nvPr/>
        </p:nvGrpSpPr>
        <p:grpSpPr>
          <a:xfrm>
            <a:off x="476250" y="333375"/>
            <a:ext cx="1714500" cy="381000"/>
            <a:chOff x="476250" y="333375"/>
            <a:chExt cx="1714500" cy="381000"/>
          </a:xfrm>
        </p:grpSpPr>
        <p:sp>
          <p:nvSpPr>
            <p:cNvPr id="216" name="Google Shape;216;p5"/>
            <p:cNvSpPr/>
            <p:nvPr/>
          </p:nvSpPr>
          <p:spPr>
            <a:xfrm>
              <a:off x="476250" y="333375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476250" y="333375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 Lakshya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8" name="Google Shape;218;p5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219" name="Google Shape;219;p5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571500" y="152400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 txBox="1"/>
            <p:nvPr/>
          </p:nvSpPr>
          <p:spPr>
            <a:xfrm>
              <a:off x="762000" y="1762125"/>
              <a:ext cx="3048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Target Impact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Direct and meaningful advantages delivered to the end-users and key stakeholders.</a:t>
              </a:r>
              <a:endParaRPr b="0" sz="11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User Empowerment: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Enhancing daily operations and accessibility for the core audience.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Efficiency Gains: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Streamlining legacy workflows to save time and reduce manual friction.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2" name="Google Shape;222;p5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223" name="Google Shape;223;p5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381500" y="152400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4572000" y="1762125"/>
              <a:ext cx="3048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eco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Social &amp; Eco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Fostering positive community transformation and supporting ecological sustainability.</a:t>
              </a:r>
              <a:endParaRPr b="0" sz="11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Inclusive Design: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Creating equitable access for diverse and underserved populations.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Eco Footprint: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Minimizing carbon output and optimizing digital resource usage.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p5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227" name="Google Shape;227;p5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8191500" y="152400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8382000" y="1762125"/>
              <a:ext cx="3048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Economic &amp; Scale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Delivering measurable financial returns, cost savings, and scalable growth pathways.</a:t>
              </a:r>
              <a:endParaRPr b="0" sz="11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Cost Optimization: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Reducing operational expenditures through modern architecture.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Future Scalability:</a:t>
              </a: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Ensuring the platform scales seamlessly with growing demand.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0" name="Google Shape;230;p5"/>
          <p:cNvSpPr txBox="1"/>
          <p:nvPr>
            <p:ph idx="12" type="sldNum"/>
          </p:nvPr>
        </p:nvSpPr>
        <p:spPr>
          <a:xfrm>
            <a:off x="8775600" y="64237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1" name="Google Shape;231;p5"/>
          <p:cNvSpPr txBox="1"/>
          <p:nvPr>
            <p:ph idx="11" type="ftr"/>
          </p:nvPr>
        </p:nvSpPr>
        <p:spPr>
          <a:xfrm>
            <a:off x="44940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32" name="Google Shape;2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6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240" name="Google Shape;240;p6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 Lakshya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42" name="Google Shape;242;p6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RESEARCH &amp; REFERENCES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Standards, Regulatory Frameworks, and Academic Literature</a:t>
            </a:r>
            <a:endParaRPr b="0" sz="1600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3" name="Google Shape;243;p6"/>
          <p:cNvSpPr txBox="1"/>
          <p:nvPr>
            <p:ph idx="12" type="sldNum"/>
          </p:nvPr>
        </p:nvSpPr>
        <p:spPr>
          <a:xfrm>
            <a:off x="8775700" y="64238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44" name="Google Shape;244;p6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245" name="Google Shape;245;p6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762000" y="171945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9" name="Google Shape;249;p6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Regulatory Standards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Alignment with global security frameworks and cybersecurity guidelines established by state authorities.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NIST SP 800-53: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Adhering to federal security controls and continuous ZTA baseline monitoring guidelines [cite: 33, 48].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MeitY Guidelines: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National regulations for high-integrity server log management and data protection [cite: 12, 33].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51" name="Google Shape;251;p6"/>
          <p:cNvSpPr txBox="1"/>
          <p:nvPr>
            <p:ph idx="11" type="ftr"/>
          </p:nvPr>
        </p:nvSpPr>
        <p:spPr>
          <a:xfrm>
            <a:off x="4494000" y="642382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52" name="Google Shape;252;p6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253" name="Google Shape;253;p6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4572000" y="171945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8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88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Academic &amp; Systems AI</a:t>
              </a:r>
              <a:endParaRPr b="0" sz="1388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58" name="Google Shape;258;p6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Scientific literature supporting our sandboxed monitoring and AI-driven predictive telemetry.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eBPF Monitoring: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Safe kernel-level event tracing for threat containment without performance loss [cite: 6].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Isolation Forest: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Multi-dimensional anomaly detection algorithms used for network log stream analysis [cite: 6, 8].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59" name="Google Shape;259;p6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260" name="Google Shape;260;p6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6"/>
            <p:cNvSpPr txBox="1"/>
            <p:nvPr/>
          </p:nvSpPr>
          <p:spPr>
            <a:xfrm>
              <a:off x="8382000" y="171945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8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4" name="Google Shape;264;p6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7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Engineering Best Practices</a:t>
              </a:r>
              <a:endParaRPr b="0" sz="127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65" name="Google Shape;265;p6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Technical design benchmarks guaranteeing resilient database architecture and access governance.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RFC 7519 (JWT):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Industry standard implementation for stateless authentication and RBAC claims.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PostgreSQL &amp; Redis:</a:t>
              </a: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High-concurrency benchmarks for transactional persistence and optimized performance caching.</a:t>
              </a:r>
              <a:endParaRPr b="0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66" name="Google Shape;2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