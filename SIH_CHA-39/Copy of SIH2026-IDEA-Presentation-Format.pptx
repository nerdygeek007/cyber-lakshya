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ate"/>
      <p:regular r:id="rId13"/>
      <p:italic r:id="rId14"/>
    </p:embeddedFont>
    <p:embeddedFont>
      <p:font typeface="Inter SemiBold"/>
      <p:regular r:id="rId15"/>
      <p:bold r:id="rId16"/>
      <p:italic r:id="rId17"/>
      <p:boldItalic r:id="rId18"/>
    </p:embeddedFont>
    <p:embeddedFont>
      <p:font typeface="Garamon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Inter ExtraBold"/>
      <p:bold r:id="rId27"/>
      <p:boldItalic r:id="rId28"/>
    </p:embeddedFont>
    <p:embeddedFont>
      <p:font typeface="Oswald"/>
      <p:regular r:id="rId29"/>
      <p:bold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BwBlahdPxYFNkcgISYOKjDJ6f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.fntdata"/><Relationship Id="rId22" Type="http://schemas.openxmlformats.org/officeDocument/2006/relationships/font" Target="fonts/Garamond-boldItalic.fntdata"/><Relationship Id="rId21" Type="http://schemas.openxmlformats.org/officeDocument/2006/relationships/font" Target="fonts/Garamon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InterExtraBold-boldItalic.fntdata"/><Relationship Id="rId27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Oswald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font" Target="fonts/Mate-regular.fntdata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font" Target="fonts/InterSemiBold-regular.fntdata"/><Relationship Id="rId14" Type="http://schemas.openxmlformats.org/officeDocument/2006/relationships/font" Target="fonts/Mate-italic.fntdata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Garamond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72d2f950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72d2f95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72d2f950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"/>
          <p:cNvGrpSpPr/>
          <p:nvPr/>
        </p:nvGrpSpPr>
        <p:grpSpPr>
          <a:xfrm>
            <a:off x="762003" y="1381150"/>
            <a:ext cx="2672639" cy="370058"/>
            <a:chOff x="762000" y="1381125"/>
            <a:chExt cx="2476500" cy="342900"/>
          </a:xfrm>
        </p:grpSpPr>
        <p:sp>
          <p:nvSpPr>
            <p:cNvPr id="94" name="Google Shape;94;p1"/>
            <p:cNvSpPr/>
            <p:nvPr/>
          </p:nvSpPr>
          <p:spPr>
            <a:xfrm>
              <a:off x="762000" y="1381125"/>
              <a:ext cx="2476500" cy="342900"/>
            </a:xfrm>
            <a:prstGeom prst="roundRect">
              <a:avLst>
                <a:gd fmla="val 50000" name="adj"/>
              </a:avLst>
            </a:prstGeom>
            <a:solidFill>
              <a:srgbClr val="F0F9FF"/>
            </a:solidFill>
            <a:ln cap="flat" cmpd="sng" w="154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762000" y="1381125"/>
              <a:ext cx="2476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1" i="0" lang="en-US" sz="1187" u="none" cap="none" strike="noStrike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Problem Statement CHA-39</a:t>
              </a:r>
              <a:endParaRPr b="1" i="0" sz="1187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761999" y="2098550"/>
            <a:ext cx="57762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2"/>
              <a:buFont typeface="Arial"/>
              <a:buNone/>
            </a:pPr>
            <a:r>
              <a:rPr b="0" i="0" lang="en-US" sz="3022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Cybersecurity Portal for Effective Management of Servers and Firewalls</a:t>
            </a:r>
            <a:endParaRPr b="0" i="0" sz="3022" u="none" cap="none" strike="noStrike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62000" y="4119575"/>
            <a:ext cx="4894800" cy="1384200"/>
          </a:xfrm>
          <a:prstGeom prst="roundRect">
            <a:avLst>
              <a:gd fmla="val 8888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62000" y="4296300"/>
            <a:ext cx="34353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b="1" i="0" lang="en-US" sz="129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Theme: </a:t>
            </a:r>
            <a:r>
              <a:rPr b="0" i="0" lang="en-US" sz="12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Blockchain &amp; Cybersecurity</a:t>
            </a:r>
            <a:endParaRPr b="0" i="0" sz="1295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b="1" i="0" lang="en-US" sz="129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Category: </a:t>
            </a:r>
            <a:r>
              <a:rPr b="0" i="0" lang="en-US" sz="12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Software</a:t>
            </a:r>
            <a:endParaRPr b="0" i="0" sz="1295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b="1" i="0" lang="en-US" sz="129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Team Name: </a:t>
            </a:r>
            <a:r>
              <a:rPr b="1" i="0" lang="en-US" sz="129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Cyber Lakshya</a:t>
            </a:r>
            <a:endParaRPr b="0" i="0" sz="1295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b="1" i="0" lang="en-US" sz="129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Team ID: </a:t>
            </a:r>
            <a:r>
              <a:rPr b="0" i="0" lang="en-US" sz="129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DEPSTAR-SIH-880700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1"/>
          <p:cNvGrpSpPr/>
          <p:nvPr/>
        </p:nvGrpSpPr>
        <p:grpSpPr>
          <a:xfrm>
            <a:off x="0" y="6353175"/>
            <a:ext cx="12192000" cy="504900"/>
            <a:chOff x="0" y="6353175"/>
            <a:chExt cx="12192000" cy="50490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6353175"/>
              <a:ext cx="12192000" cy="504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6353175"/>
              <a:ext cx="121920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</a:t>
              </a:r>
              <a:endParaRPr b="0" i="0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10895625" y="6353175"/>
              <a:ext cx="6207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1</a:t>
              </a:r>
              <a:endParaRPr b="1" i="0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8775600" y="64237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0" name="Google Shape;110;p2"/>
          <p:cNvSpPr txBox="1"/>
          <p:nvPr>
            <p:ph idx="11" type="ftr"/>
          </p:nvPr>
        </p:nvSpPr>
        <p:spPr>
          <a:xfrm>
            <a:off x="44940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"/>
          <p:cNvGrpSpPr/>
          <p:nvPr/>
        </p:nvGrpSpPr>
        <p:grpSpPr>
          <a:xfrm>
            <a:off x="476250" y="285750"/>
            <a:ext cx="1714500" cy="381000"/>
            <a:chOff x="476250" y="285750"/>
            <a:chExt cx="1714500" cy="381000"/>
          </a:xfrm>
        </p:grpSpPr>
        <p:sp>
          <p:nvSpPr>
            <p:cNvPr id="113" name="Google Shape;113;p2"/>
            <p:cNvSpPr/>
            <p:nvPr/>
          </p:nvSpPr>
          <p:spPr>
            <a:xfrm>
              <a:off x="476250" y="28575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76250" y="2857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Cyber Lakshya</a:t>
              </a:r>
              <a:endParaRPr b="1" i="0" sz="11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15" name="Google Shape;115;p2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SECUREDGE</a:t>
            </a:r>
            <a:endParaRPr b="0" i="0" sz="3200" u="none" cap="none" strike="noStrike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Proposed Solution: Centralized Server &amp; Firewall Management</a:t>
            </a:r>
            <a:endParaRPr b="0" i="0" sz="1600" u="none" cap="none" strike="noStrike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117" name="Google Shape;117;p2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7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7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76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284C7"/>
                  </a:solidFill>
                  <a:latin typeface="Mate"/>
                  <a:ea typeface="Mate"/>
                  <a:cs typeface="Mate"/>
                  <a:sym typeface="Mate"/>
                </a:rPr>
                <a:t>dns</a:t>
              </a:r>
              <a:endParaRPr b="0" i="0" sz="1800" u="none" cap="none" strike="noStrike">
                <a:solidFill>
                  <a:srgbClr val="0284C7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123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Centralized DCIM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76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 enterprise-grade </a:t>
              </a:r>
              <a:r>
                <a:rPr b="1" i="0" lang="en-US" sz="10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 Center Infrastructure Management (DCIM)</a:t>
              </a: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portal built using a high-throughput Go backend and robust PostgreSQL storage.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Real-time monitoring: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Health checks across thousands of distributed servers.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Automated firewall: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Rapid policy enforcement and rule distribution.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Unified console: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Centralized command center dashboard.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124" name="Google Shape;124;p2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38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438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457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F172A"/>
                  </a:solidFill>
                  <a:latin typeface="Mate"/>
                  <a:ea typeface="Mate"/>
                  <a:cs typeface="Mate"/>
                  <a:sym typeface="Mate"/>
                </a:rPr>
                <a:t>security</a:t>
              </a:r>
              <a:endParaRPr b="0" i="0" sz="1800" u="none" cap="none" strike="noStrike">
                <a:solidFill>
                  <a:srgbClr val="0F172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504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Zero-Trust Mitigation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457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Directly addresses identity verification deficits and administrative latency by enforcing strict Zero Trust Architecture.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RBAC controls: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Enforced with secure high-entropy JWT keys.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State pipelines: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Prevents single-point credential compromises.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Default-Deny: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Secures and closes vulnerable open-ports.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131" name="Google Shape;131;p2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819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819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838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D9488"/>
                  </a:solidFill>
                  <a:latin typeface="Mate"/>
                  <a:ea typeface="Mate"/>
                  <a:cs typeface="Mate"/>
                  <a:sym typeface="Mate"/>
                </a:rPr>
                <a:t>psychology</a:t>
              </a:r>
              <a:endParaRPr b="0" i="0" sz="1800" u="none" cap="none" strike="noStrike">
                <a:solidFill>
                  <a:srgbClr val="0D9488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885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Smart Innovation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838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Moves security and operations from manual, reactive firefighting to proactive, autonomic intelligence.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Kernel eBPF: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Sandboxed monitoring to block malicious processes instantly.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Isolation Forests: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ML for explainable threat logging anomalies.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Digital Twins: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Thermal CFD simulation to prevent hardware failures.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142" name="Google Shape;142;g3f72d2f950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327" y="11298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3"/>
          <p:cNvGrpSpPr/>
          <p:nvPr/>
        </p:nvGrpSpPr>
        <p:grpSpPr>
          <a:xfrm>
            <a:off x="476250" y="285750"/>
            <a:ext cx="1714500" cy="381000"/>
            <a:chOff x="476250" y="285750"/>
            <a:chExt cx="1714500" cy="381000"/>
          </a:xfrm>
        </p:grpSpPr>
        <p:sp>
          <p:nvSpPr>
            <p:cNvPr id="150" name="Google Shape;150;p3"/>
            <p:cNvSpPr/>
            <p:nvPr/>
          </p:nvSpPr>
          <p:spPr>
            <a:xfrm>
              <a:off x="476250" y="28575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476250" y="285750"/>
              <a:ext cx="1714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Cyber Lakshya</a:t>
              </a:r>
              <a:endParaRPr b="1" i="0" sz="11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52" name="Google Shape;152;p3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TECHNICAL APPROACH</a:t>
            </a:r>
            <a:endParaRPr b="0" i="0" sz="3200" u="none" cap="none" strike="noStrike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SecurEdge Architecture &amp; Methodology</a:t>
            </a:r>
            <a:endParaRPr b="0" i="0" sz="1600" u="none" cap="none" strike="noStrike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3" name="Google Shape;153;p3"/>
          <p:cNvSpPr txBox="1"/>
          <p:nvPr>
            <p:ph idx="12" type="sldNum"/>
          </p:nvPr>
        </p:nvSpPr>
        <p:spPr>
          <a:xfrm>
            <a:off x="8775600" y="64237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grpSp>
        <p:nvGrpSpPr>
          <p:cNvPr id="154" name="Google Shape;154;p3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155" name="Google Shape;155;p3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7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2038350"/>
              <a:ext cx="34290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3"/>
            <p:cNvSpPr/>
            <p:nvPr/>
          </p:nvSpPr>
          <p:spPr>
            <a:xfrm>
              <a:off x="57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"/>
            <p:cNvSpPr txBox="1"/>
            <p:nvPr/>
          </p:nvSpPr>
          <p:spPr>
            <a:xfrm>
              <a:off x="762000" y="1693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284C7"/>
                  </a:solidFill>
                  <a:latin typeface="Mate"/>
                  <a:ea typeface="Mate"/>
                  <a:cs typeface="Mate"/>
                  <a:sym typeface="Mate"/>
                </a:rPr>
                <a:t>layers</a:t>
              </a:r>
              <a:endParaRPr b="0" i="0" sz="1800" u="none" cap="none" strike="noStrike">
                <a:solidFill>
                  <a:srgbClr val="0284C7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60" name="Google Shape;160;p3"/>
            <p:cNvSpPr txBox="1"/>
            <p:nvPr/>
          </p:nvSpPr>
          <p:spPr>
            <a:xfrm>
              <a:off x="123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Core Tech Stack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76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Production-ready technologies selected for enterprise performance, scalability, and security.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Go Backend: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High-throughput Go APIs for efficient, lightweight processing.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Databases: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PostgreSQL for persistent storage with Redis caching.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Containers: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Docker-based microservices for reliable orchestration.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3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163" name="Google Shape;163;p3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38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5" name="Google Shape;16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1500" y="2038350"/>
              <a:ext cx="34290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3"/>
            <p:cNvSpPr/>
            <p:nvPr/>
          </p:nvSpPr>
          <p:spPr>
            <a:xfrm>
              <a:off x="438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4572000" y="1693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F172A"/>
                  </a:solidFill>
                  <a:latin typeface="Mate"/>
                  <a:ea typeface="Mate"/>
                  <a:cs typeface="Mate"/>
                  <a:sym typeface="Mate"/>
                </a:rPr>
                <a:t>hub</a:t>
              </a:r>
              <a:endParaRPr b="0" i="0" sz="1800" u="none" cap="none" strike="noStrike">
                <a:solidFill>
                  <a:srgbClr val="0F172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504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Architecture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457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Multi-layered system architecture designed to isolate core environments and secure traffic routes.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Shell Model: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Strict boundaries between internal and external networks.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Go API Gateway: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Centralized endpoint routing and RBAC enforcement.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Flow Mapping: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Detailed visualization of server-to-firewall data streams.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0" name="Google Shape;170;p3"/>
          <p:cNvSpPr txBox="1"/>
          <p:nvPr>
            <p:ph idx="11" type="ftr"/>
          </p:nvPr>
        </p:nvSpPr>
        <p:spPr>
          <a:xfrm>
            <a:off x="44940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71" name="Google Shape;171;p3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172" name="Google Shape;172;p3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4" name="Google Shape;17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91500" y="2038350"/>
              <a:ext cx="9525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3"/>
            <p:cNvSpPr/>
            <p:nvPr/>
          </p:nvSpPr>
          <p:spPr>
            <a:xfrm>
              <a:off x="819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"/>
            <p:cNvSpPr txBox="1"/>
            <p:nvPr/>
          </p:nvSpPr>
          <p:spPr>
            <a:xfrm>
              <a:off x="8382000" y="1693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D9488"/>
                  </a:solidFill>
                  <a:latin typeface="Mate"/>
                  <a:ea typeface="Mate"/>
                  <a:cs typeface="Mate"/>
                  <a:sym typeface="Mate"/>
                </a:rPr>
                <a:t>speed</a:t>
              </a:r>
              <a:endParaRPr b="0" i="0" sz="1800" u="none" cap="none" strike="noStrike">
                <a:solidFill>
                  <a:srgbClr val="0D9488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885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Process &amp; Build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838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methodical, phase-by-phase implementation plan ensuring a stable and verified prototype launch.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4-Week Sprint: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Fast-paced development targeting the core Monolith.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Working Prototype: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Continuous validation of anomaly alert pathways.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SIH 2026 Target: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Fully prepared for live, secure evaluation.</a:t>
              </a:r>
              <a:endParaRPr b="0" i="0" sz="11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9" name="Google Shape;17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FEASIBILITY AND VIABILITY</a:t>
            </a:r>
            <a:endParaRPr b="0" i="0" sz="3200" u="none" cap="none" strike="noStrike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Evaluating Practical Implementation &amp; Risk Mitigation</a:t>
            </a:r>
            <a:endParaRPr b="0" i="0" sz="1600" u="none" cap="none" strike="noStrike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87" name="Google Shape;187;p4"/>
          <p:cNvGrpSpPr/>
          <p:nvPr/>
        </p:nvGrpSpPr>
        <p:grpSpPr>
          <a:xfrm>
            <a:off x="476250" y="285750"/>
            <a:ext cx="1714500" cy="381000"/>
            <a:chOff x="476250" y="285750"/>
            <a:chExt cx="1714500" cy="381000"/>
          </a:xfrm>
        </p:grpSpPr>
        <p:sp>
          <p:nvSpPr>
            <p:cNvPr id="188" name="Google Shape;188;p4"/>
            <p:cNvSpPr/>
            <p:nvPr/>
          </p:nvSpPr>
          <p:spPr>
            <a:xfrm>
              <a:off x="476250" y="28575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"/>
            <p:cNvSpPr txBox="1"/>
            <p:nvPr/>
          </p:nvSpPr>
          <p:spPr>
            <a:xfrm>
              <a:off x="476250" y="2857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Cyber Lakshya</a:t>
              </a:r>
              <a:endParaRPr b="1" i="0" sz="11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90" name="Google Shape;190;p4"/>
          <p:cNvSpPr txBox="1"/>
          <p:nvPr>
            <p:ph idx="12" type="sldNum"/>
          </p:nvPr>
        </p:nvSpPr>
        <p:spPr>
          <a:xfrm>
            <a:off x="8775700" y="642381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91" name="Google Shape;191;p4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192" name="Google Shape;192;p4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57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57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"/>
            <p:cNvSpPr txBox="1"/>
            <p:nvPr/>
          </p:nvSpPr>
          <p:spPr>
            <a:xfrm>
              <a:off x="76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284C7"/>
                  </a:solidFill>
                  <a:latin typeface="Mate"/>
                  <a:ea typeface="Mate"/>
                  <a:cs typeface="Mate"/>
                  <a:sym typeface="Mate"/>
                </a:rPr>
                <a:t>assessment</a:t>
              </a:r>
              <a:endParaRPr b="0" i="0" sz="1800" u="none" cap="none" strike="noStrike">
                <a:solidFill>
                  <a:srgbClr val="0284C7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96" name="Google Shape;196;p4"/>
            <p:cNvSpPr txBox="1"/>
            <p:nvPr/>
          </p:nvSpPr>
          <p:spPr>
            <a:xfrm>
              <a:off x="123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Feasibility Analysis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97" name="Google Shape;197;p4"/>
            <p:cNvSpPr txBox="1"/>
            <p:nvPr/>
          </p:nvSpPr>
          <p:spPr>
            <a:xfrm>
              <a:off x="76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comprehensive evaluation of technical, operational, and financial feasibility of the proposed solution.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Technical Viability: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Assessing stack compatibility and performance metrics.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Operational Fit: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Seamless integration with standard data center layouts.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Resource Demands: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Lean developer overhead with efficient microservices.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98" name="Google Shape;198;p4"/>
          <p:cNvSpPr txBox="1"/>
          <p:nvPr>
            <p:ph idx="11" type="ftr"/>
          </p:nvPr>
        </p:nvSpPr>
        <p:spPr>
          <a:xfrm>
            <a:off x="4494000" y="6423816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</a:t>
            </a:r>
            <a:r>
              <a:rPr lang="en-US">
                <a:solidFill>
                  <a:srgbClr val="FFFFFF"/>
                </a:solidFill>
              </a:rPr>
              <a:t>n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99" name="Google Shape;199;p4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200" name="Google Shape;200;p4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438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438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"/>
            <p:cNvSpPr txBox="1"/>
            <p:nvPr/>
          </p:nvSpPr>
          <p:spPr>
            <a:xfrm>
              <a:off x="457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F172A"/>
                  </a:solidFill>
                  <a:latin typeface="Mate"/>
                  <a:ea typeface="Mate"/>
                  <a:cs typeface="Mate"/>
                  <a:sym typeface="Mate"/>
                </a:rPr>
                <a:t>warning</a:t>
              </a:r>
              <a:endParaRPr b="0" i="0" sz="1800" u="none" cap="none" strike="noStrike">
                <a:solidFill>
                  <a:srgbClr val="0F172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504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Challenges &amp; Risks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457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Identification of potential bottlenecks, legacy security threats, and adoption barriers during rollout.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Integration Latency: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Sync delays during legacy firewall rules mapping.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Security Vectors: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Managing identity verification across mixed networks.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Adoption Hurdles: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Overcoming the initial learning curve for operators.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207" name="Google Shape;207;p4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819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819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8382000" y="17122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D9488"/>
                  </a:solidFill>
                  <a:latin typeface="Mate"/>
                  <a:ea typeface="Mate"/>
                  <a:cs typeface="Mate"/>
                  <a:sym typeface="Mate"/>
                </a:rPr>
                <a:t>verified_user</a:t>
              </a:r>
              <a:endParaRPr b="0" i="0" sz="1800" u="none" cap="none" strike="noStrike">
                <a:solidFill>
                  <a:srgbClr val="0D9488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8858250" y="16668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Overcoming Risks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8382000" y="2333625"/>
              <a:ext cx="3048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Proactive strategies and architectural design choices to completely neutralize identified risks.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Phased Rollout: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Deploying in sandboxed environments first to test load.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RBAC Enforcement: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Hardening access using high-entropy JWT keys.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Automated Fallbacks:</a:t>
              </a:r>
              <a:r>
                <a:rPr b="0" i="0" lang="en-US" sz="1050" u="none" cap="none" strike="noStrike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Instant configuration recovery during failures.</a:t>
              </a:r>
              <a:endParaRPr b="0" i="0" sz="10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13" name="Google Shape;2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IMPACT AND BENEFITS</a:t>
            </a:r>
            <a:endParaRPr b="0" i="0" sz="3200" u="none" cap="none" strike="noStrike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Transformational Value &amp; Strategic Advantages</a:t>
            </a:r>
            <a:endParaRPr b="0" i="0" sz="1600" u="none" cap="none" strike="noStrike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21" name="Google Shape;221;p5"/>
          <p:cNvGrpSpPr/>
          <p:nvPr/>
        </p:nvGrpSpPr>
        <p:grpSpPr>
          <a:xfrm>
            <a:off x="476250" y="333375"/>
            <a:ext cx="1714500" cy="381000"/>
            <a:chOff x="476250" y="333375"/>
            <a:chExt cx="1714500" cy="381000"/>
          </a:xfrm>
        </p:grpSpPr>
        <p:sp>
          <p:nvSpPr>
            <p:cNvPr id="222" name="Google Shape;222;p5"/>
            <p:cNvSpPr/>
            <p:nvPr/>
          </p:nvSpPr>
          <p:spPr>
            <a:xfrm>
              <a:off x="476250" y="333375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476250" y="333375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Cyber Lakshya</a:t>
              </a:r>
              <a:endParaRPr b="1" i="0" sz="11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24" name="Google Shape;224;p5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225" name="Google Shape;225;p5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571500" y="152400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762000" y="1762125"/>
              <a:ext cx="3048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284C7"/>
                  </a:solidFill>
                  <a:latin typeface="Mate"/>
                  <a:ea typeface="Mate"/>
                  <a:cs typeface="Mate"/>
                  <a:sym typeface="Mate"/>
                </a:rPr>
                <a:t>groups</a:t>
              </a:r>
              <a:endParaRPr b="0" i="0" sz="2400" u="none" cap="none" strike="noStrike">
                <a:solidFill>
                  <a:srgbClr val="0284C7"/>
                </a:solidFill>
                <a:latin typeface="Mate"/>
                <a:ea typeface="Mate"/>
                <a:cs typeface="Mate"/>
                <a:sym typeface="Mat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Target Impact</a:t>
              </a:r>
              <a:endParaRPr b="0" i="0" sz="16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Direct and meaningful advantages delivered to the end-users and key stakeholders.</a:t>
              </a:r>
              <a:endParaRPr b="0" i="0" sz="11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i="0" lang="en-US" sz="110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User Empowerment:</a:t>
              </a:r>
              <a:r>
                <a:rPr b="0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Enhancing daily operations and accessibility for the core audience.</a:t>
              </a:r>
              <a:endParaRPr b="0" i="0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i="0" lang="en-US" sz="110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Efficiency Gains:</a:t>
              </a:r>
              <a:r>
                <a:rPr b="0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Streamlining legacy workflows to save time and reduce manual friction.</a:t>
              </a:r>
              <a:endParaRPr b="0" i="0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8" name="Google Shape;228;p5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229" name="Google Shape;229;p5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4381500" y="152400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4572000" y="1762125"/>
              <a:ext cx="3048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0B981"/>
                  </a:solidFill>
                  <a:latin typeface="Mate"/>
                  <a:ea typeface="Mate"/>
                  <a:cs typeface="Mate"/>
                  <a:sym typeface="Mate"/>
                </a:rPr>
                <a:t>eco</a:t>
              </a:r>
              <a:endParaRPr b="0" i="0" sz="2400" u="none" cap="none" strike="noStrike">
                <a:solidFill>
                  <a:srgbClr val="10B981"/>
                </a:solidFill>
                <a:latin typeface="Mate"/>
                <a:ea typeface="Mate"/>
                <a:cs typeface="Mate"/>
                <a:sym typeface="Mat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Social &amp; Eco</a:t>
              </a:r>
              <a:endParaRPr b="0" i="0" sz="16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Fostering positive community transformation and supporting ecological sustainability.</a:t>
              </a:r>
              <a:endParaRPr b="0" i="0" sz="11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i="0" lang="en-US" sz="110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Inclusive Design:</a:t>
              </a:r>
              <a:r>
                <a:rPr b="0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Creating equitable access for diverse and underserved populations.</a:t>
              </a:r>
              <a:endParaRPr b="0" i="0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i="0" lang="en-US" sz="110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Eco Footprint:</a:t>
              </a:r>
              <a:r>
                <a:rPr b="0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Minimizing carbon output and optimizing digital resource usage.</a:t>
              </a:r>
              <a:endParaRPr b="0" i="0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p5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233" name="Google Shape;233;p5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8191500" y="1524000"/>
              <a:ext cx="3429000" cy="762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5"/>
            <p:cNvSpPr txBox="1"/>
            <p:nvPr/>
          </p:nvSpPr>
          <p:spPr>
            <a:xfrm>
              <a:off x="8382000" y="1762125"/>
              <a:ext cx="3048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6366F1"/>
                  </a:solidFill>
                  <a:latin typeface="Mate"/>
                  <a:ea typeface="Mate"/>
                  <a:cs typeface="Mate"/>
                  <a:sym typeface="Mate"/>
                </a:rPr>
                <a:t>trending_up</a:t>
              </a:r>
              <a:endParaRPr b="0" i="0" sz="2400" u="none" cap="none" strike="noStrike">
                <a:solidFill>
                  <a:srgbClr val="6366F1"/>
                </a:solidFill>
                <a:latin typeface="Mate"/>
                <a:ea typeface="Mate"/>
                <a:cs typeface="Mate"/>
                <a:sym typeface="Mat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Economic &amp; Scale</a:t>
              </a:r>
              <a:endParaRPr b="0" i="0" sz="16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Delivering measurable financial returns, cost savings, and scalable growth pathways.</a:t>
              </a:r>
              <a:endParaRPr b="0" i="0" sz="11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i="0" lang="en-US" sz="110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Cost Optimization:</a:t>
              </a:r>
              <a:r>
                <a:rPr b="0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Reducing operational expenditures through modern architecture.</a:t>
              </a:r>
              <a:endParaRPr b="0" i="0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i="0" lang="en-US" sz="110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Future Scalability:</a:t>
              </a:r>
              <a:r>
                <a:rPr b="0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Ensuring the platform scales seamlessly with growing demand.</a:t>
              </a:r>
              <a:endParaRPr b="0" i="0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6" name="Google Shape;236;p5"/>
          <p:cNvSpPr txBox="1"/>
          <p:nvPr>
            <p:ph idx="12" type="sldNum"/>
          </p:nvPr>
        </p:nvSpPr>
        <p:spPr>
          <a:xfrm>
            <a:off x="8775600" y="64237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7" name="Google Shape;237;p5"/>
          <p:cNvSpPr txBox="1"/>
          <p:nvPr>
            <p:ph idx="11" type="ftr"/>
          </p:nvPr>
        </p:nvSpPr>
        <p:spPr>
          <a:xfrm>
            <a:off x="4494000" y="64237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38" name="Google Shape;2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p6"/>
          <p:cNvGrpSpPr/>
          <p:nvPr/>
        </p:nvGrpSpPr>
        <p:grpSpPr>
          <a:xfrm>
            <a:off x="476250" y="285750"/>
            <a:ext cx="1714500" cy="381000"/>
            <a:chOff x="476250" y="285750"/>
            <a:chExt cx="1714500" cy="381000"/>
          </a:xfrm>
        </p:grpSpPr>
        <p:sp>
          <p:nvSpPr>
            <p:cNvPr id="246" name="Google Shape;246;p6"/>
            <p:cNvSpPr/>
            <p:nvPr/>
          </p:nvSpPr>
          <p:spPr>
            <a:xfrm>
              <a:off x="476250" y="28575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 txBox="1"/>
            <p:nvPr/>
          </p:nvSpPr>
          <p:spPr>
            <a:xfrm>
              <a:off x="476250" y="285750"/>
              <a:ext cx="1714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Cyber Lakshya</a:t>
              </a:r>
              <a:endParaRPr b="1" i="0" sz="11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48" name="Google Shape;248;p6"/>
          <p:cNvSpPr txBox="1"/>
          <p:nvPr/>
        </p:nvSpPr>
        <p:spPr>
          <a:xfrm>
            <a:off x="2381250" y="190500"/>
            <a:ext cx="723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RESEARCH &amp; REFERENCES</a:t>
            </a:r>
            <a:endParaRPr b="0" i="0" sz="3200" u="none" cap="none" strike="noStrike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Standards, Regulatory Frameworks, and Academic Literature</a:t>
            </a:r>
            <a:endParaRPr b="0" i="0" sz="1600" u="none" cap="none" strike="noStrike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9" name="Google Shape;249;p6"/>
          <p:cNvSpPr txBox="1"/>
          <p:nvPr>
            <p:ph idx="12" type="sldNum"/>
          </p:nvPr>
        </p:nvSpPr>
        <p:spPr>
          <a:xfrm>
            <a:off x="8775700" y="642381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50" name="Google Shape;250;p6"/>
          <p:cNvGrpSpPr/>
          <p:nvPr/>
        </p:nvGrpSpPr>
        <p:grpSpPr>
          <a:xfrm>
            <a:off x="571500" y="1524000"/>
            <a:ext cx="3429000" cy="4381500"/>
            <a:chOff x="571500" y="1524000"/>
            <a:chExt cx="3429000" cy="4381500"/>
          </a:xfrm>
        </p:grpSpPr>
        <p:sp>
          <p:nvSpPr>
            <p:cNvPr id="251" name="Google Shape;251;p6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57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57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"/>
            <p:cNvSpPr txBox="1"/>
            <p:nvPr/>
          </p:nvSpPr>
          <p:spPr>
            <a:xfrm>
              <a:off x="762000" y="171945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284C7"/>
                  </a:solidFill>
                  <a:latin typeface="Mate"/>
                  <a:ea typeface="Mate"/>
                  <a:cs typeface="Mate"/>
                  <a:sym typeface="Mate"/>
                </a:rPr>
                <a:t>gavel</a:t>
              </a:r>
              <a:endParaRPr b="0" i="0" sz="1800" u="none" cap="none" strike="noStrike">
                <a:solidFill>
                  <a:srgbClr val="0284C7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55" name="Google Shape;255;p6"/>
            <p:cNvSpPr txBox="1"/>
            <p:nvPr/>
          </p:nvSpPr>
          <p:spPr>
            <a:xfrm>
              <a:off x="1238250" y="1666875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Regulatory Standards</a:t>
              </a:r>
              <a:endParaRPr b="0" i="0" sz="15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762000" y="2333625"/>
              <a:ext cx="30480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Alignment with global security frameworks and cybersecurity guidelines established by state authorities.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NIST SP 800-53: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Adhering to federal security controls and continuous ZTA baseline monitoring guidelines [cite: 33, 48].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MeitY Guidelines: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National regulations for high-integrity server log management and data protection [cite: 12, 33].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57" name="Google Shape;257;p6"/>
          <p:cNvSpPr txBox="1"/>
          <p:nvPr>
            <p:ph idx="11" type="ftr"/>
          </p:nvPr>
        </p:nvSpPr>
        <p:spPr>
          <a:xfrm>
            <a:off x="4494000" y="6423828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58" name="Google Shape;258;p6"/>
          <p:cNvGrpSpPr/>
          <p:nvPr/>
        </p:nvGrpSpPr>
        <p:grpSpPr>
          <a:xfrm>
            <a:off x="4381500" y="1524000"/>
            <a:ext cx="3429000" cy="4381500"/>
            <a:chOff x="4381500" y="1524000"/>
            <a:chExt cx="3429000" cy="4381500"/>
          </a:xfrm>
        </p:grpSpPr>
        <p:sp>
          <p:nvSpPr>
            <p:cNvPr id="259" name="Google Shape;259;p6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438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438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6"/>
            <p:cNvSpPr txBox="1"/>
            <p:nvPr/>
          </p:nvSpPr>
          <p:spPr>
            <a:xfrm>
              <a:off x="4572000" y="171945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F172A"/>
                  </a:solidFill>
                  <a:latin typeface="Mate"/>
                  <a:ea typeface="Mate"/>
                  <a:cs typeface="Mate"/>
                  <a:sym typeface="Mate"/>
                </a:rPr>
                <a:t>psychology</a:t>
              </a:r>
              <a:endParaRPr b="0" i="0" sz="1800" u="none" cap="none" strike="noStrike">
                <a:solidFill>
                  <a:srgbClr val="0F172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63" name="Google Shape;263;p6"/>
            <p:cNvSpPr txBox="1"/>
            <p:nvPr/>
          </p:nvSpPr>
          <p:spPr>
            <a:xfrm>
              <a:off x="5048250" y="1666875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8"/>
                <a:buFont typeface="Arial"/>
                <a:buNone/>
              </a:pPr>
              <a:r>
                <a:rPr b="0" i="0" lang="en-US" sz="1388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Academic &amp; Systems AI</a:t>
              </a:r>
              <a:endParaRPr b="0" i="0" sz="1388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64" name="Google Shape;264;p6"/>
            <p:cNvSpPr txBox="1"/>
            <p:nvPr/>
          </p:nvSpPr>
          <p:spPr>
            <a:xfrm>
              <a:off x="4572000" y="2333625"/>
              <a:ext cx="30480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Scientific literature supporting our sandboxed monitoring and AI-driven predictive telemetry.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eBPF Monitoring: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Safe kernel-level event tracing for threat containment without performance loss [cite: 6].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Isolation Forest: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Multi-dimensional anomaly detection algorithms used for network log stream analysis [cite: 6, 8].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65" name="Google Shape;265;p6"/>
          <p:cNvGrpSpPr/>
          <p:nvPr/>
        </p:nvGrpSpPr>
        <p:grpSpPr>
          <a:xfrm>
            <a:off x="8191500" y="1524000"/>
            <a:ext cx="3429000" cy="4381500"/>
            <a:chOff x="8191500" y="1524000"/>
            <a:chExt cx="3429000" cy="4381500"/>
          </a:xfrm>
        </p:grpSpPr>
        <p:sp>
          <p:nvSpPr>
            <p:cNvPr id="266" name="Google Shape;266;p6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8191500" y="1524000"/>
              <a:ext cx="3429000" cy="666900"/>
            </a:xfrm>
            <a:prstGeom prst="roundRect">
              <a:avLst>
                <a:gd fmla="val 22857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8191500" y="1524000"/>
              <a:ext cx="3429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6"/>
            <p:cNvSpPr txBox="1"/>
            <p:nvPr/>
          </p:nvSpPr>
          <p:spPr>
            <a:xfrm>
              <a:off x="8382000" y="171945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D9488"/>
                  </a:solidFill>
                  <a:latin typeface="Mate"/>
                  <a:ea typeface="Mate"/>
                  <a:cs typeface="Mate"/>
                  <a:sym typeface="Mate"/>
                </a:rPr>
                <a:t>dns</a:t>
              </a:r>
              <a:endParaRPr b="0" i="0" sz="1800" u="none" cap="none" strike="noStrike">
                <a:solidFill>
                  <a:srgbClr val="0D9488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70" name="Google Shape;270;p6"/>
            <p:cNvSpPr txBox="1"/>
            <p:nvPr/>
          </p:nvSpPr>
          <p:spPr>
            <a:xfrm>
              <a:off x="8858250" y="1666875"/>
              <a:ext cx="2571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75"/>
                <a:buFont typeface="Arial"/>
                <a:buNone/>
              </a:pPr>
              <a:r>
                <a:rPr b="0" i="0" lang="en-US" sz="1275" u="none" cap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Engineering Best Practices</a:t>
              </a:r>
              <a:endParaRPr b="0" i="0" sz="1275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71" name="Google Shape;271;p6"/>
            <p:cNvSpPr txBox="1"/>
            <p:nvPr/>
          </p:nvSpPr>
          <p:spPr>
            <a:xfrm>
              <a:off x="8382000" y="2333625"/>
              <a:ext cx="30480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Technical design benchmarks guaranteeing resilient database architecture and access governance.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RFC 7519 (JWT):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Industry standard implementation for stateless authentication and RBAC claims.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64748B"/>
                </a:buClr>
                <a:buSzPts val="1050"/>
                <a:buFont typeface="Inter"/>
                <a:buChar char="●"/>
              </a:pPr>
              <a:r>
                <a:rPr b="1" i="0" lang="en-US" sz="1150" u="none" cap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PostgreSQL &amp; Redis:</a:t>
              </a:r>
              <a:r>
                <a:rPr b="0" i="0" lang="en-US" sz="11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High-concurrency benchmarks for transactional persistence and optimized performance caching.</a:t>
              </a:r>
              <a:endParaRPr b="0" i="0" sz="10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72" name="Google Shape;2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